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76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9492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320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株式会社オマージュ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FB400"/>
                </a:solidFill>
              </a:rPr>
              <a:t>EVENT / LOGISTICS / STAFFING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人材課題　解決ガイド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人材確保の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4B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最適解を選ぼう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" y="37490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AABCCE"/>
                </a:solidFill>
              </a:rPr>
              <a:t>紹介サービス（タイミ</a:t>
            </a:r>
            <a:r>
              <a:rPr lang="en-US" sz="1500" i="1" dirty="0">
                <a:solidFill>
                  <a:srgbClr val="AABCCE"/>
                </a:solidFill>
              </a:rPr>
              <a:t>ー）vs </a:t>
            </a:r>
            <a:r>
              <a:rPr lang="en-US" sz="1500" i="1" dirty="0" err="1">
                <a:solidFill>
                  <a:srgbClr val="AABCCE"/>
                </a:solidFill>
              </a:rPr>
              <a:t>派遣サービス（オマージュ</a:t>
            </a:r>
            <a:r>
              <a:rPr lang="en-US" sz="1500" i="1" dirty="0">
                <a:solidFill>
                  <a:srgbClr val="AABCCE"/>
                </a:solidFill>
              </a:rPr>
              <a:t>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42519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2F5F95"/>
          </a:solidFill>
          <a:ln w="12700">
            <a:solidFill>
              <a:srgbClr val="2F5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FFFFFF"/>
                </a:solidFill>
              </a:rPr>
              <a:t>プラン</a:t>
            </a:r>
            <a:r>
              <a:rPr lang="en-US" sz="1200" b="1" dirty="0">
                <a:solidFill>
                  <a:srgbClr val="FFFFFF"/>
                </a:solidFill>
              </a:rPr>
              <a:t> A</a:t>
            </a:r>
            <a:r>
              <a:rPr lang="ja-JP" altLang="en-US" sz="1200" b="1">
                <a:solidFill>
                  <a:srgbClr val="FFFFFF"/>
                </a:solidFill>
              </a:rPr>
              <a:t>　</a:t>
            </a:r>
            <a:r>
              <a:rPr lang="en-US" sz="1200" b="1" dirty="0" err="1">
                <a:solidFill>
                  <a:srgbClr val="FFFFFF"/>
                </a:solidFill>
              </a:rPr>
              <a:t>紹介サービス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42519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プラン B　</a:t>
            </a:r>
            <a:r>
              <a:rPr lang="en-US" sz="1200" b="1" dirty="0" err="1">
                <a:solidFill>
                  <a:srgbClr val="FFFFFF"/>
                </a:solidFill>
              </a:rPr>
              <a:t>派遣サービス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4773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57788"/>
                </a:solidFill>
              </a:rPr>
              <a:t>人材派遣業許可 般27-030390　|　職業紹介業許可 27-ユ-300908</a:t>
            </a:r>
            <a:endParaRPr lang="en-US" sz="9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668F1CE-6407-8221-3450-F859A9F9EE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alphaModFix/>
          </a:blip>
          <a:srcRect l="22585" t="21338" r="20721" b="20077"/>
          <a:stretch>
            <a:fillRect/>
          </a:stretch>
        </p:blipFill>
        <p:spPr>
          <a:xfrm>
            <a:off x="243536" y="87083"/>
            <a:ext cx="1082344" cy="1118463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F66"/>
          </a:solidFill>
          <a:ln w="12700">
            <a:solidFill>
              <a:srgbClr val="1E3F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54864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こんなお悩み、ありませんか？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2651760" cy="64008"/>
          </a:xfrm>
          <a:prstGeom prst="rect">
            <a:avLst/>
          </a:prstGeom>
          <a:solidFill>
            <a:srgbClr val="2F5F95"/>
          </a:solidFill>
          <a:ln w="12700">
            <a:solidFill>
              <a:srgbClr val="2F5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883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833"/>
                </a:solidFill>
              </a:rPr>
              <a:t>急な欠員が怖い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161901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07080"/>
                </a:solidFill>
              </a:rPr>
              <a:t>当日突然来なくなった…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607080"/>
                </a:solidFill>
              </a:rPr>
              <a:t>現場が回らない！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54680" y="123444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234440"/>
            <a:ext cx="2651760" cy="6400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5883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833"/>
                </a:solidFill>
              </a:rPr>
              <a:t>スキルがバラバラ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2161901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07080"/>
                </a:solidFill>
              </a:rPr>
              <a:t>来てみたら全然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607080"/>
                </a:solidFill>
              </a:rPr>
              <a:t>使えなかった…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89320" y="123444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234440"/>
            <a:ext cx="2651760" cy="64008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55883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833"/>
                </a:solidFill>
              </a:rPr>
              <a:t>管理が面倒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2161901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07080"/>
                </a:solidFill>
              </a:rPr>
              <a:t>採用・勤怠・請求…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607080"/>
                </a:solidFill>
              </a:rPr>
              <a:t>誰が全部やるの？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この資料では、2つのサービスを徹底比較！御社に合った方法を見つけましょう。</a:t>
            </a:r>
            <a:endParaRPr lang="en-US" sz="14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193F4DA-176D-04E6-3196-53D5B27B0E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alphaModFix/>
          </a:blip>
          <a:srcRect l="22585" t="21338" r="20721" b="20077"/>
          <a:stretch>
            <a:fillRect/>
          </a:stretch>
        </p:blipFill>
        <p:spPr>
          <a:xfrm>
            <a:off x="106376" y="-66903"/>
            <a:ext cx="1082344" cy="1118463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F5F95"/>
          </a:solidFill>
          <a:ln w="12700">
            <a:solidFill>
              <a:srgbClr val="2F5F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73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DCEF"/>
                </a:solidFill>
              </a:rPr>
              <a:t>プラン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43891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紹介サービス</a:t>
            </a:r>
            <a:r>
              <a:rPr lang="zh-CN" alt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en-US" altLang="ja-JP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〜</a:t>
            </a:r>
            <a:r>
              <a:rPr lang="zh-CN" alt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タイミー</a:t>
            </a:r>
            <a:r>
              <a:rPr lang="en-US" altLang="zh-CN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〜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943600" y="713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0D0E0"/>
                </a:solidFill>
              </a:rPr>
              <a:t>自社募集型 | 成果報酬30% | 労務管理は企業側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2344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F0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234440"/>
            <a:ext cx="3931920" cy="475488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2344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メリット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" y="18288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Wingdings" pitchFamily="2" charset="2"/>
              </a:rPr>
              <a:t>✅</a:t>
            </a:r>
            <a:endParaRPr lang="en-US" sz="1800" b="1" dirty="0">
              <a:latin typeface="Wingdings" pitchFamily="2" charset="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77824" y="1847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スマホで即日募集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824" y="2130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アプリで簡単に求人掲載できる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25603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latin typeface="Wingdings" pitchFamily="2" charset="2"/>
              </a:rPr>
              <a:t>✅</a:t>
            </a:r>
            <a:endParaRPr lang="en-US" altLang="zh-CN" b="1" dirty="0">
              <a:latin typeface="Wingdings" pitchFamily="2" charset="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7824" y="2578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初期費用ゼロ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7824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稼働した分だけ費用が発生。無駄なし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32918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latin typeface="Wingdings" pitchFamily="2" charset="2"/>
              </a:rPr>
              <a:t>✅</a:t>
            </a:r>
            <a:endParaRPr lang="en-US" altLang="zh-CN" b="1" dirty="0">
              <a:latin typeface="Wingdings" pitchFamily="2" charset="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7824" y="3310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スピード採用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最短当日から人材が集まることも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" y="40233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latin typeface="Wingdings" pitchFamily="2" charset="2"/>
              </a:rPr>
              <a:t>✅</a:t>
            </a:r>
            <a:endParaRPr lang="en-US" altLang="zh-CN" b="1" dirty="0">
              <a:latin typeface="Wingdings" pitchFamily="2" charset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7824" y="4041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管理画面で確認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4325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勤怠・請求はアプリ上で一目瞭然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43159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234440"/>
            <a:ext cx="4315968" cy="47548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234440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デメリット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18288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</a:p>
        </p:txBody>
      </p:sp>
      <p:sp>
        <p:nvSpPr>
          <p:cNvPr id="28" name="Text 26"/>
          <p:cNvSpPr/>
          <p:nvPr/>
        </p:nvSpPr>
        <p:spPr>
          <a:xfrm>
            <a:off x="5193792" y="1847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急欠対応は自社で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93792" y="2174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当日キャンセルでもタイミーは代替を手配しない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25603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93792" y="261126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スキルのばらつき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93792" y="293827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面接なし・現場確認なしで合わない人材が来ることも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32918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93792" y="334278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労務リスクは自社負担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93792" y="366979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法的には自社雇用。トラブル時の対応窓口も自社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0233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93792" y="407430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管理工数がかかる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93792" y="440131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シフト設定・勤怠確認・請求確認など担当者の負担</a:t>
            </a:r>
            <a:endParaRPr lang="en-US" sz="14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2191F294-F98C-4B68-248C-431ECF0234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alphaModFix/>
          </a:blip>
          <a:srcRect l="22585" t="21338" r="20721" b="20077"/>
          <a:stretch>
            <a:fillRect/>
          </a:stretch>
        </p:blipFill>
        <p:spPr>
          <a:xfrm>
            <a:off x="88088" y="-25755"/>
            <a:ext cx="1082344" cy="1118463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C8A00"/>
          </a:solidFill>
          <a:ln w="12700">
            <a:solidFill>
              <a:srgbClr val="4C8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73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E5A0"/>
                </a:solidFill>
              </a:rPr>
              <a:t>プラン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43891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派遣サービス</a:t>
            </a:r>
            <a:r>
              <a:rPr lang="zh-CN" alt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en-US" altLang="zh-CN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〜</a:t>
            </a:r>
            <a:r>
              <a:rPr lang="en-US" altLang="zh-CN" sz="27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オマージュ</a:t>
            </a:r>
            <a:r>
              <a:rPr lang="en-US" altLang="zh-CN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〜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486400" y="71323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5E5A0"/>
                </a:solidFill>
              </a:rPr>
              <a:t>請負形式 | 8h=¥16,000固定 | 全て丸投げOK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2344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B0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234440"/>
            <a:ext cx="3931920" cy="47548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2344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デメリット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" y="18288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935"/>
                </a:solidFill>
              </a:rPr>
              <a:t>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7824" y="1847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料金が固定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824" y="21958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稼働時間に関わらず8時間16,000円が基本単位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" y="29273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266046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935"/>
                </a:solidFill>
              </a:rPr>
              <a:t>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" y="26787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アプリで手軽、ではない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" y="3027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担当者とのやり取りが発生する（電話・メール）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" y="33919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935"/>
                </a:solidFill>
              </a:rPr>
              <a:t>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824" y="34102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超短時間だけの依頼は不向き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3759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2〜3時間のみなど、超短時間案件は割高感あり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43159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DA0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234440"/>
            <a:ext cx="4315968" cy="475488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234440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メリット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18288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 dirty="0">
                <a:latin typeface="Wingdings" pitchFamily="2" charset="2"/>
              </a:rPr>
              <a:t>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93792" y="1847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現場訪問でマッチング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93792" y="2174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担当者が実際に現場を確認し、最適なスタッフを選定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25603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 dirty="0">
                <a:latin typeface="Wingdings" pitchFamily="2" charset="2"/>
              </a:rPr>
              <a:t>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93792" y="2578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急欠は弊社が対応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93792" y="290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当日欠員が出ても、弊社が代替スタッフを手配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32918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 dirty="0">
                <a:latin typeface="Wingdings" pitchFamily="2" charset="2"/>
              </a:rPr>
              <a:t>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93792" y="3310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労務管理を完全代行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93792" y="3637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面接・名簿・勤怠・請求処理、全て弊社が担当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0233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 dirty="0">
                <a:latin typeface="Wingdings" pitchFamily="2" charset="2"/>
              </a:rPr>
              <a:t>✅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93792" y="4041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3"/>
                </a:solidFill>
              </a:rPr>
              <a:t>労務リスクは弊社負担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93792" y="4368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請負形式のため、法的トラブルリスクを弊社が受け持つ</a:t>
            </a:r>
            <a:endParaRPr lang="en-US" sz="14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DBA94605-78CF-7A78-1F80-58FA143665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alphaModFix/>
          </a:blip>
          <a:srcRect l="22585" t="21338" r="20721" b="20077"/>
          <a:stretch>
            <a:fillRect/>
          </a:stretch>
        </p:blipFill>
        <p:spPr>
          <a:xfrm>
            <a:off x="88088" y="-53111"/>
            <a:ext cx="1082344" cy="1118463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F66"/>
          </a:solidFill>
          <a:ln w="12700">
            <a:solidFill>
              <a:srgbClr val="1E3F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4864"/>
            <a:ext cx="7680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料金シミュレーション比較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EDF4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607080"/>
                </a:solidFill>
              </a:rPr>
              <a:t>想定条件：時給</a:t>
            </a:r>
            <a:r>
              <a:rPr lang="en-US" sz="1300" i="1" dirty="0">
                <a:solidFill>
                  <a:srgbClr val="607080"/>
                </a:solidFill>
              </a:rPr>
              <a:t> 1,</a:t>
            </a:r>
            <a:r>
              <a:rPr lang="en-US" altLang="zh-CN" sz="1300" i="1" dirty="0">
                <a:solidFill>
                  <a:srgbClr val="607080"/>
                </a:solidFill>
              </a:rPr>
              <a:t>45</a:t>
            </a:r>
            <a:r>
              <a:rPr lang="en-US" sz="1300" i="1" dirty="0">
                <a:solidFill>
                  <a:srgbClr val="607080"/>
                </a:solidFill>
              </a:rPr>
              <a:t>0円 × 8時間勤務 × 1名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3749040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F5F95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627632"/>
            <a:ext cx="3749040" cy="475488"/>
          </a:xfrm>
          <a:prstGeom prst="rect">
            <a:avLst/>
          </a:prstGeom>
          <a:solidFill>
            <a:srgbClr val="2F5F95"/>
          </a:solidFill>
          <a:ln w="12700">
            <a:solidFill>
              <a:srgbClr val="2F5F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276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プラン A　</a:t>
            </a:r>
            <a:r>
              <a:rPr lang="en-US" b="1" dirty="0" err="1">
                <a:solidFill>
                  <a:srgbClr val="FFFFFF"/>
                </a:solidFill>
              </a:rPr>
              <a:t>紹介サービス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5488" y="221284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時給 × 時間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19072" y="22128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1,</a:t>
            </a:r>
            <a:r>
              <a:rPr lang="en-US" altLang="zh-CN" sz="1400" dirty="0">
                <a:solidFill>
                  <a:srgbClr val="1C2833"/>
                </a:solidFill>
              </a:rPr>
              <a:t>450</a:t>
            </a:r>
            <a:r>
              <a:rPr lang="en-US" sz="1400" dirty="0">
                <a:solidFill>
                  <a:srgbClr val="1C2833"/>
                </a:solidFill>
              </a:rPr>
              <a:t>円 × 8h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2128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2833"/>
                </a:solidFill>
              </a:rPr>
              <a:t>= 1</a:t>
            </a:r>
            <a:r>
              <a:rPr lang="en-US" altLang="zh-CN" sz="1400" b="1" dirty="0">
                <a:solidFill>
                  <a:srgbClr val="1C2833"/>
                </a:solidFill>
              </a:rPr>
              <a:t>1</a:t>
            </a:r>
            <a:r>
              <a:rPr lang="en-US" sz="1400" b="1" dirty="0">
                <a:solidFill>
                  <a:srgbClr val="1C2833"/>
                </a:solidFill>
              </a:rPr>
              <a:t>,</a:t>
            </a:r>
            <a:r>
              <a:rPr lang="en-US" altLang="zh-CN" sz="1400" b="1" dirty="0">
                <a:solidFill>
                  <a:srgbClr val="1C2833"/>
                </a:solidFill>
              </a:rPr>
              <a:t>6</a:t>
            </a:r>
            <a:r>
              <a:rPr lang="en-US" sz="1400" b="1" dirty="0">
                <a:solidFill>
                  <a:srgbClr val="1C2833"/>
                </a:solidFill>
              </a:rPr>
              <a:t>00円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2779776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サービス料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19072" y="2779776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/>
              <a:t>(</a:t>
            </a:r>
            <a:r>
              <a:rPr lang="zh-CN" altLang="en-US" sz="1400" dirty="0"/>
              <a:t>時給</a:t>
            </a:r>
            <a:r>
              <a:rPr lang="en-US" altLang="zh-CN" sz="1400" dirty="0"/>
              <a:t>×</a:t>
            </a:r>
            <a:r>
              <a:rPr lang="zh-CN" altLang="en-US" sz="1400" dirty="0"/>
              <a:t>時間</a:t>
            </a:r>
            <a:r>
              <a:rPr lang="en-US" altLang="zh-CN" sz="1400" dirty="0"/>
              <a:t>+</a:t>
            </a:r>
            <a:r>
              <a:rPr lang="zh-CN" altLang="en-US" sz="1400" dirty="0"/>
              <a:t>交通費</a:t>
            </a:r>
            <a:r>
              <a:rPr lang="en-US" altLang="zh-CN" sz="1400" dirty="0"/>
              <a:t>)</a:t>
            </a:r>
            <a:r>
              <a:rPr lang="ja-JP" altLang="en-US" sz="1400"/>
              <a:t>の</a:t>
            </a:r>
            <a:r>
              <a:rPr lang="en-US" altLang="ja-JP" sz="1400" dirty="0"/>
              <a:t>30%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7797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2833"/>
                </a:solidFill>
              </a:rPr>
              <a:t>= 3,480円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" y="3346704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振込手数料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19072" y="33467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+ 200円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33467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2833"/>
                </a:solidFill>
              </a:rPr>
              <a:t>= 200円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" y="3950208"/>
            <a:ext cx="345643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9959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833"/>
                </a:solidFill>
              </a:rPr>
              <a:t>合計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9959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F5F95"/>
                </a:solidFill>
              </a:rPr>
              <a:t>¥15,280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047488" y="1627632"/>
            <a:ext cx="3749040" cy="3154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FB400"/>
            </a:solidFill>
            <a:prstDash val="solid"/>
          </a:ln>
          <a:effectLst>
            <a:outerShdw blurRad="127000" dist="38100" dir="8100000" algn="bl" rotWithShape="0">
              <a:srgbClr val="162C4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47488" y="1627632"/>
            <a:ext cx="3749040" cy="475488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6276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プラン B　</a:t>
            </a:r>
            <a:r>
              <a:rPr lang="en-US" b="1" dirty="0" err="1">
                <a:solidFill>
                  <a:srgbClr val="FFFFFF"/>
                </a:solidFill>
              </a:rPr>
              <a:t>派遣サービス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5504" y="221284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料金体系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19088" y="2212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8時間固定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71232" y="22128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2833"/>
                </a:solidFill>
              </a:rPr>
              <a:t>固定料金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75504" y="2779776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追加費用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19088" y="277977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なし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71232" y="27797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FB400"/>
                </a:solidFill>
              </a:rPr>
              <a:t>¥0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75504" y="3346704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労務管理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19088" y="33467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全て弊社対応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71232" y="33467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FB400"/>
                </a:solidFill>
              </a:rPr>
              <a:t>含む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175504" y="3950208"/>
            <a:ext cx="345643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5504" y="39959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833"/>
                </a:solidFill>
              </a:rPr>
              <a:t>合計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28816" y="39959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6FB400"/>
                </a:solidFill>
              </a:rPr>
              <a:t>¥16,000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4206240" y="2633472"/>
            <a:ext cx="731520" cy="731520"/>
          </a:xfrm>
          <a:prstGeom prst="ellipse">
            <a:avLst/>
          </a:prstGeom>
          <a:solidFill>
            <a:srgbClr val="1E3F66"/>
          </a:solidFill>
          <a:ln w="12700">
            <a:solidFill>
              <a:srgbClr val="1E3F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26334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</a:rPr>
              <a:t>※差額約620円。ただしプランBは急欠対応・労務管理・現場訪問マッチングが全て含まれています。</a:t>
            </a:r>
            <a:endParaRPr lang="en-US" sz="10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AAB5D775-3EBE-D5BF-AD0D-21166F2A4B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alphaModFix/>
          </a:blip>
          <a:srcRect l="22585" t="21338" r="20721" b="20077"/>
          <a:stretch>
            <a:fillRect/>
          </a:stretch>
        </p:blipFill>
        <p:spPr>
          <a:xfrm>
            <a:off x="78944" y="-95782"/>
            <a:ext cx="1082344" cy="1118463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どちらを選ぶ？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CCE"/>
                </a:solidFill>
              </a:rPr>
              <a:t>両プランを正直に比較しました。御社の状況に合った選択を。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3749040" cy="3337560"/>
          </a:xfrm>
          <a:prstGeom prst="rect">
            <a:avLst/>
          </a:prstGeom>
          <a:solidFill>
            <a:srgbClr val="122840"/>
          </a:solidFill>
          <a:ln w="25400">
            <a:solidFill>
              <a:srgbClr val="2F5F9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53312"/>
            <a:ext cx="3749040" cy="457200"/>
          </a:xfrm>
          <a:prstGeom prst="rect">
            <a:avLst/>
          </a:prstGeom>
          <a:solidFill>
            <a:srgbClr val="2F5F95"/>
          </a:solidFill>
          <a:ln w="12700">
            <a:solidFill>
              <a:srgbClr val="2F5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53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プラン A　</a:t>
            </a:r>
            <a:r>
              <a:rPr lang="en-US" b="1" dirty="0" err="1">
                <a:solidFill>
                  <a:srgbClr val="FFFFFF"/>
                </a:solidFill>
              </a:rPr>
              <a:t>紹介サービス向き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3664" y="19019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CCE0"/>
                </a:solidFill>
              </a:rPr>
              <a:t>スマホで手軽に始めたい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664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CCE0"/>
                </a:solidFill>
              </a:rPr>
              <a:t>まず試してみたい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3664" y="2852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CCE0"/>
                </a:solidFill>
              </a:rPr>
              <a:t>社内で管理できる人材がいる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3664" y="33284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CCE0"/>
                </a:solidFill>
              </a:rPr>
              <a:t>超短時間の依頼が多い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3664" y="38039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CCE0"/>
                </a:solidFill>
              </a:rPr>
              <a:t>急欠リスクが低い業種・環境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74920" y="1353312"/>
            <a:ext cx="3749040" cy="3337560"/>
          </a:xfrm>
          <a:prstGeom prst="rect">
            <a:avLst/>
          </a:prstGeom>
          <a:solidFill>
            <a:srgbClr val="102210"/>
          </a:solidFill>
          <a:ln w="25400">
            <a:solidFill>
              <a:srgbClr val="6FB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353312"/>
            <a:ext cx="3749040" cy="457200"/>
          </a:xfrm>
          <a:prstGeom prst="rect">
            <a:avLst/>
          </a:prstGeom>
          <a:solidFill>
            <a:srgbClr val="6FB400"/>
          </a:solidFill>
          <a:ln w="12700">
            <a:solidFill>
              <a:srgbClr val="6F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353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プラン B　</a:t>
            </a:r>
            <a:r>
              <a:rPr lang="en-US" b="1" dirty="0" err="1">
                <a:solidFill>
                  <a:srgbClr val="FFFFFF"/>
                </a:solidFill>
              </a:rPr>
              <a:t>派遣サービス向き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58544" y="19019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DDA0"/>
                </a:solidFill>
              </a:rPr>
              <a:t>急欠対応を丸投げしたい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58544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DDA0"/>
                </a:solidFill>
              </a:rPr>
              <a:t>管理の手間をゼロにしたい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58544" y="2852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DDA0"/>
                </a:solidFill>
              </a:rPr>
              <a:t>スキルにこだわりたい現場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58544" y="33284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DDA0"/>
                </a:solidFill>
              </a:rPr>
              <a:t>法的リスクを負いたくない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58544" y="38039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AADDA0"/>
                </a:solidFill>
              </a:rPr>
              <a:t>繁忙期の安心感が欲しい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06240" y="2697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F66"/>
                </a:solidFill>
              </a:rPr>
              <a:t>VS</a:t>
            </a:r>
            <a:endParaRPr lang="en-US" sz="14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4C05A46-3724-EFF4-876E-92C3272B58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alphaModFix/>
          </a:blip>
          <a:srcRect l="22585" t="21338" r="20721" b="20077"/>
          <a:stretch>
            <a:fillRect/>
          </a:stretch>
        </p:blipFill>
        <p:spPr>
          <a:xfrm>
            <a:off x="152096" y="-83743"/>
            <a:ext cx="1082344" cy="1118463"/>
          </a:xfrm>
          <a:prstGeom prst="ellipse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81D0F442-06DD-4297-9C99-12DC508E2935}"/>
              </a:ext>
            </a:extLst>
          </p:cNvPr>
          <p:cNvSpPr/>
          <p:nvPr/>
        </p:nvSpPr>
        <p:spPr>
          <a:xfrm>
            <a:off x="426284" y="1979676"/>
            <a:ext cx="519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dirty="0"/>
              <a:t>️️</a:t>
            </a:r>
            <a:endParaRPr lang="en-US" sz="1600" dirty="0"/>
          </a:p>
        </p:txBody>
      </p:sp>
      <p:pic>
        <p:nvPicPr>
          <p:cNvPr id="37" name="图片 36" descr=":太い丸:">
            <a:extLst>
              <a:ext uri="{FF2B5EF4-FFF2-40B4-BE49-F238E27FC236}">
                <a16:creationId xmlns:a16="http://schemas.microsoft.com/office/drawing/2014/main" id="{24587B80-C989-600A-381B-14E54C265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45" y="2039112"/>
            <a:ext cx="227510" cy="227510"/>
          </a:xfrm>
          <a:prstGeom prst="rect">
            <a:avLst/>
          </a:prstGeom>
        </p:spPr>
      </p:pic>
      <p:pic>
        <p:nvPicPr>
          <p:cNvPr id="38" name="图片 37" descr=":太い丸:">
            <a:extLst>
              <a:ext uri="{FF2B5EF4-FFF2-40B4-BE49-F238E27FC236}">
                <a16:creationId xmlns:a16="http://schemas.microsoft.com/office/drawing/2014/main" id="{B2A56F1E-E35C-968A-DB0B-73AD44F1D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45" y="2469425"/>
            <a:ext cx="227510" cy="227510"/>
          </a:xfrm>
          <a:prstGeom prst="rect">
            <a:avLst/>
          </a:prstGeom>
        </p:spPr>
      </p:pic>
      <p:pic>
        <p:nvPicPr>
          <p:cNvPr id="39" name="图片 38" descr=":太い丸:">
            <a:extLst>
              <a:ext uri="{FF2B5EF4-FFF2-40B4-BE49-F238E27FC236}">
                <a16:creationId xmlns:a16="http://schemas.microsoft.com/office/drawing/2014/main" id="{4EF95EE4-8E1F-39D8-7C5E-7173A36F8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45" y="2964724"/>
            <a:ext cx="227510" cy="227510"/>
          </a:xfrm>
          <a:prstGeom prst="rect">
            <a:avLst/>
          </a:prstGeom>
        </p:spPr>
      </p:pic>
      <p:pic>
        <p:nvPicPr>
          <p:cNvPr id="40" name="图片 39" descr=":太い丸:">
            <a:extLst>
              <a:ext uri="{FF2B5EF4-FFF2-40B4-BE49-F238E27FC236}">
                <a16:creationId xmlns:a16="http://schemas.microsoft.com/office/drawing/2014/main" id="{4FF13D58-D5E0-1997-9E2B-FB7B31EE5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45" y="3395037"/>
            <a:ext cx="227510" cy="227510"/>
          </a:xfrm>
          <a:prstGeom prst="rect">
            <a:avLst/>
          </a:prstGeom>
        </p:spPr>
      </p:pic>
      <p:pic>
        <p:nvPicPr>
          <p:cNvPr id="41" name="图片 40" descr=":太い丸:">
            <a:extLst>
              <a:ext uri="{FF2B5EF4-FFF2-40B4-BE49-F238E27FC236}">
                <a16:creationId xmlns:a16="http://schemas.microsoft.com/office/drawing/2014/main" id="{4EBA0436-9BEF-7E4B-4AC5-DE070CA0F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45" y="3873574"/>
            <a:ext cx="227510" cy="227510"/>
          </a:xfrm>
          <a:prstGeom prst="rect">
            <a:avLst/>
          </a:prstGeom>
        </p:spPr>
      </p:pic>
      <p:pic>
        <p:nvPicPr>
          <p:cNvPr id="42" name="图片 41" descr=":太い丸:">
            <a:extLst>
              <a:ext uri="{FF2B5EF4-FFF2-40B4-BE49-F238E27FC236}">
                <a16:creationId xmlns:a16="http://schemas.microsoft.com/office/drawing/2014/main" id="{4242312E-F7B6-1286-C34A-F63304AA4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99" y="2025504"/>
            <a:ext cx="227510" cy="227510"/>
          </a:xfrm>
          <a:prstGeom prst="rect">
            <a:avLst/>
          </a:prstGeom>
        </p:spPr>
      </p:pic>
      <p:pic>
        <p:nvPicPr>
          <p:cNvPr id="43" name="图片 42" descr=":太い丸:">
            <a:extLst>
              <a:ext uri="{FF2B5EF4-FFF2-40B4-BE49-F238E27FC236}">
                <a16:creationId xmlns:a16="http://schemas.microsoft.com/office/drawing/2014/main" id="{B4E5C0D0-33EF-465D-A1AC-4485467BD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99" y="2455817"/>
            <a:ext cx="227510" cy="227510"/>
          </a:xfrm>
          <a:prstGeom prst="rect">
            <a:avLst/>
          </a:prstGeom>
        </p:spPr>
      </p:pic>
      <p:pic>
        <p:nvPicPr>
          <p:cNvPr id="44" name="图片 43" descr=":太い丸:">
            <a:extLst>
              <a:ext uri="{FF2B5EF4-FFF2-40B4-BE49-F238E27FC236}">
                <a16:creationId xmlns:a16="http://schemas.microsoft.com/office/drawing/2014/main" id="{595FAD40-A4B5-0972-0159-A356DDDC8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99" y="2951116"/>
            <a:ext cx="227510" cy="227510"/>
          </a:xfrm>
          <a:prstGeom prst="rect">
            <a:avLst/>
          </a:prstGeom>
        </p:spPr>
      </p:pic>
      <p:pic>
        <p:nvPicPr>
          <p:cNvPr id="45" name="图片 44" descr=":太い丸:">
            <a:extLst>
              <a:ext uri="{FF2B5EF4-FFF2-40B4-BE49-F238E27FC236}">
                <a16:creationId xmlns:a16="http://schemas.microsoft.com/office/drawing/2014/main" id="{A1639DBA-D73B-D090-DEBB-7D0E74FFC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99" y="3381429"/>
            <a:ext cx="227510" cy="227510"/>
          </a:xfrm>
          <a:prstGeom prst="rect">
            <a:avLst/>
          </a:prstGeom>
        </p:spPr>
      </p:pic>
      <p:pic>
        <p:nvPicPr>
          <p:cNvPr id="46" name="图片 45" descr=":太い丸:">
            <a:extLst>
              <a:ext uri="{FF2B5EF4-FFF2-40B4-BE49-F238E27FC236}">
                <a16:creationId xmlns:a16="http://schemas.microsoft.com/office/drawing/2014/main" id="{3FF55CB8-879B-15E7-C3C8-C3CF79A28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99" y="3859966"/>
            <a:ext cx="227510" cy="22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336</Words>
  <Application>Microsoft Macintosh PowerPoint</Application>
  <PresentationFormat>全屏显示(16:9)</PresentationFormat>
  <Paragraphs>125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Hiragino Sans</vt:lpstr>
      <vt:lpstr>Arial</vt:lpstr>
      <vt:lpstr>Arial Black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人材確保ソリューション比較</dc:title>
  <dc:subject>PptxGenJS Presentation</dc:subject>
  <dc:creator>PptxGenJS</dc:creator>
  <cp:lastModifiedBy>ryou ki</cp:lastModifiedBy>
  <cp:revision>11</cp:revision>
  <cp:lastPrinted>2026-05-13T07:41:39Z</cp:lastPrinted>
  <dcterms:created xsi:type="dcterms:W3CDTF">2026-05-12T01:28:18Z</dcterms:created>
  <dcterms:modified xsi:type="dcterms:W3CDTF">2026-05-13T07:42:47Z</dcterms:modified>
</cp:coreProperties>
</file>